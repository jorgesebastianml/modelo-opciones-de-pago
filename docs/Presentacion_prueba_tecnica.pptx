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9C2"/>
    <a:srgbClr val="DCFCE7"/>
    <a:srgbClr val="F7E3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1" autoAdjust="0"/>
  </p:normalViewPr>
  <p:slideViewPr>
    <p:cSldViewPr snapToGrid="0" snapToObjects="1">
      <p:cViewPr varScale="1">
        <p:scale>
          <a:sx n="75" d="100"/>
          <a:sy n="75" d="100"/>
        </p:scale>
        <p:origin x="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CAF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CF-40F4-AB4A-AF632E0BB03B}"/>
              </c:ext>
            </c:extLst>
          </c:dPt>
          <c:dPt>
            <c:idx val="1"/>
            <c:bubble3D val="0"/>
            <c:spPr>
              <a:solidFill>
                <a:srgbClr val="C9C6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CF-40F4-AB4A-AF632E0BB03B}"/>
              </c:ext>
            </c:extLst>
          </c:dPt>
          <c:cat>
            <c:strRef>
              <c:f>Sheet1!$A$2:$A$3</c:f>
              <c:strCache>
                <c:ptCount val="2"/>
                <c:pt idx="0">
                  <c:v>Aceptó</c:v>
                </c:pt>
                <c:pt idx="1">
                  <c:v>No aceptó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CF-40F4-AB4A-AF632E0BB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279D3-3B87-45F2-98AC-71771567442C}" type="datetimeFigureOut">
              <a:t>13/09/2026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4F2B1-D597-4179-928D-9D9353BD6BA3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6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9CF0-6B7B-071E-FBA2-5C96C5D4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06A31-324C-80F3-AEFC-7D43B9A42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90910-C596-885F-7EB3-85451E33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D067C-CB9F-C6EA-A4D8-DCE9F676A0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43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640080" cy="0"/>
          </a:xfrm>
          <a:prstGeom prst="line">
            <a:avLst/>
          </a:prstGeom>
          <a:noFill/>
          <a:ln w="444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4" name="Shape 2"/>
          <p:cNvSpPr/>
          <p:nvPr/>
        </p:nvSpPr>
        <p:spPr>
          <a:xfrm>
            <a:off x="0" y="841248"/>
            <a:ext cx="896112" cy="0"/>
          </a:xfrm>
          <a:prstGeom prst="line">
            <a:avLst/>
          </a:prstGeom>
          <a:noFill/>
          <a:ln w="4445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5" name="Shape 3"/>
          <p:cNvSpPr/>
          <p:nvPr/>
        </p:nvSpPr>
        <p:spPr>
          <a:xfrm>
            <a:off x="813816" y="758952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6" name="Shape 4"/>
          <p:cNvSpPr/>
          <p:nvPr/>
        </p:nvSpPr>
        <p:spPr>
          <a:xfrm>
            <a:off x="0" y="1133856"/>
            <a:ext cx="1152144" cy="0"/>
          </a:xfrm>
          <a:prstGeom prst="line">
            <a:avLst/>
          </a:prstGeom>
          <a:noFill/>
          <a:ln w="444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7" name="Shape 5"/>
          <p:cNvSpPr/>
          <p:nvPr/>
        </p:nvSpPr>
        <p:spPr>
          <a:xfrm>
            <a:off x="1069848" y="1051560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8" name="Shape 6"/>
          <p:cNvSpPr/>
          <p:nvPr/>
        </p:nvSpPr>
        <p:spPr>
          <a:xfrm>
            <a:off x="0" y="1426464"/>
            <a:ext cx="1408176" cy="0"/>
          </a:xfrm>
          <a:prstGeom prst="line">
            <a:avLst/>
          </a:prstGeom>
          <a:noFill/>
          <a:ln w="444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" name="Shape 7"/>
          <p:cNvSpPr/>
          <p:nvPr/>
        </p:nvSpPr>
        <p:spPr>
          <a:xfrm>
            <a:off x="1325880" y="1344168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0" name="Shape 8"/>
          <p:cNvSpPr/>
          <p:nvPr/>
        </p:nvSpPr>
        <p:spPr>
          <a:xfrm>
            <a:off x="0" y="1719072"/>
            <a:ext cx="1664208" cy="0"/>
          </a:xfrm>
          <a:prstGeom prst="line">
            <a:avLst/>
          </a:prstGeom>
          <a:noFill/>
          <a:ln w="444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Shape 9"/>
          <p:cNvSpPr/>
          <p:nvPr/>
        </p:nvSpPr>
        <p:spPr>
          <a:xfrm>
            <a:off x="1581912" y="1636776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2" name="Shape 10"/>
          <p:cNvSpPr/>
          <p:nvPr/>
        </p:nvSpPr>
        <p:spPr>
          <a:xfrm>
            <a:off x="11521440" y="6309360"/>
            <a:ext cx="640080" cy="0"/>
          </a:xfrm>
          <a:prstGeom prst="line">
            <a:avLst/>
          </a:prstGeom>
          <a:noFill/>
          <a:ln w="444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3" name="Shape 11"/>
          <p:cNvSpPr/>
          <p:nvPr/>
        </p:nvSpPr>
        <p:spPr>
          <a:xfrm>
            <a:off x="11439144" y="6227064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4" name="Shape 12"/>
          <p:cNvSpPr/>
          <p:nvPr/>
        </p:nvSpPr>
        <p:spPr>
          <a:xfrm>
            <a:off x="11265408" y="6016752"/>
            <a:ext cx="896112" cy="0"/>
          </a:xfrm>
          <a:prstGeom prst="line">
            <a:avLst/>
          </a:prstGeom>
          <a:noFill/>
          <a:ln w="444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5" name="Shape 13"/>
          <p:cNvSpPr/>
          <p:nvPr/>
        </p:nvSpPr>
        <p:spPr>
          <a:xfrm>
            <a:off x="11183112" y="5934456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6" name="Shape 14"/>
          <p:cNvSpPr/>
          <p:nvPr/>
        </p:nvSpPr>
        <p:spPr>
          <a:xfrm>
            <a:off x="11009376" y="5724144"/>
            <a:ext cx="1152144" cy="0"/>
          </a:xfrm>
          <a:prstGeom prst="line">
            <a:avLst/>
          </a:prstGeom>
          <a:noFill/>
          <a:ln w="444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7" name="Shape 15"/>
          <p:cNvSpPr/>
          <p:nvPr/>
        </p:nvSpPr>
        <p:spPr>
          <a:xfrm>
            <a:off x="10927080" y="5641848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8" name="Shape 16"/>
          <p:cNvSpPr/>
          <p:nvPr/>
        </p:nvSpPr>
        <p:spPr>
          <a:xfrm>
            <a:off x="10753344" y="5431536"/>
            <a:ext cx="1408176" cy="0"/>
          </a:xfrm>
          <a:prstGeom prst="line">
            <a:avLst/>
          </a:prstGeom>
          <a:noFill/>
          <a:ln w="4445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9" name="Shape 17"/>
          <p:cNvSpPr/>
          <p:nvPr/>
        </p:nvSpPr>
        <p:spPr>
          <a:xfrm>
            <a:off x="10671048" y="5349240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0" name="Shape 18"/>
          <p:cNvSpPr/>
          <p:nvPr/>
        </p:nvSpPr>
        <p:spPr>
          <a:xfrm>
            <a:off x="10497312" y="5138928"/>
            <a:ext cx="1664208" cy="0"/>
          </a:xfrm>
          <a:prstGeom prst="line">
            <a:avLst/>
          </a:prstGeom>
          <a:noFill/>
          <a:ln w="444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1" name="Shape 19"/>
          <p:cNvSpPr/>
          <p:nvPr/>
        </p:nvSpPr>
        <p:spPr>
          <a:xfrm>
            <a:off x="10415016" y="5056632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2" name="Text 20"/>
          <p:cNvSpPr/>
          <p:nvPr/>
        </p:nvSpPr>
        <p:spPr>
          <a:xfrm>
            <a:off x="91440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ANALÍTICA  ·  MLOPS + LLMOPS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Modelo de Opciones de Pago para Cobranza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1371600" y="3794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predecir la aceptación de pago al agente de IA que negocia alternativas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4526280"/>
            <a:ext cx="1005840" cy="0"/>
          </a:xfrm>
          <a:prstGeom prst="line">
            <a:avLst/>
          </a:prstGeom>
          <a:noFill/>
          <a:ln w="381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6" name="Shape 24"/>
          <p:cNvSpPr/>
          <p:nvPr/>
        </p:nvSpPr>
        <p:spPr>
          <a:xfrm>
            <a:off x="5943600" y="4443984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7" name="Shape 25"/>
          <p:cNvSpPr/>
          <p:nvPr/>
        </p:nvSpPr>
        <p:spPr>
          <a:xfrm>
            <a:off x="6309360" y="4526280"/>
            <a:ext cx="1005840" cy="0"/>
          </a:xfrm>
          <a:prstGeom prst="line">
            <a:avLst/>
          </a:prstGeom>
          <a:noFill/>
          <a:ln w="381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8" name="Text 26"/>
          <p:cNvSpPr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Sebastián Mora Lara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 de la sesión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057400"/>
            <a:ext cx="640080" cy="0"/>
          </a:xfrm>
          <a:prstGeom prst="line">
            <a:avLst/>
          </a:prstGeom>
          <a:noFill/>
          <a:ln w="444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5" name="Shape 13"/>
          <p:cNvSpPr/>
          <p:nvPr/>
        </p:nvSpPr>
        <p:spPr>
          <a:xfrm>
            <a:off x="1389888" y="18196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6" name="Text 14"/>
          <p:cNvSpPr/>
          <p:nvPr/>
        </p:nvSpPr>
        <p:spPr>
          <a:xfrm>
            <a:off x="1389888" y="1819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057400" y="1600200"/>
            <a:ext cx="397764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8" name="Shape 16"/>
          <p:cNvSpPr/>
          <p:nvPr/>
        </p:nvSpPr>
        <p:spPr>
          <a:xfrm>
            <a:off x="2057400" y="1600200"/>
            <a:ext cx="64008" cy="91440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19" name="Text 17"/>
          <p:cNvSpPr/>
          <p:nvPr/>
        </p:nvSpPr>
        <p:spPr>
          <a:xfrm>
            <a:off x="228600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objetivo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2057400"/>
            <a:ext cx="640080" cy="0"/>
          </a:xfrm>
          <a:prstGeom prst="line">
            <a:avLst/>
          </a:prstGeom>
          <a:noFill/>
          <a:ln w="4445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1" name="Shape 19"/>
          <p:cNvSpPr/>
          <p:nvPr/>
        </p:nvSpPr>
        <p:spPr>
          <a:xfrm>
            <a:off x="6876288" y="18196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2" name="Text 20"/>
          <p:cNvSpPr/>
          <p:nvPr/>
        </p:nvSpPr>
        <p:spPr>
          <a:xfrm>
            <a:off x="6876288" y="1819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43800" y="1600200"/>
            <a:ext cx="397764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24" name="Shape 22"/>
          <p:cNvSpPr/>
          <p:nvPr/>
        </p:nvSpPr>
        <p:spPr>
          <a:xfrm>
            <a:off x="7543800" y="1600200"/>
            <a:ext cx="64008" cy="914400"/>
          </a:xfrm>
          <a:prstGeom prst="rect">
            <a:avLst/>
          </a:prstGeom>
          <a:solidFill>
            <a:srgbClr val="F2C818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25" name="Text 23"/>
          <p:cNvSpPr/>
          <p:nvPr/>
        </p:nvSpPr>
        <p:spPr>
          <a:xfrm>
            <a:off x="777240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· </a:t>
            </a:r>
            <a:r>
              <a:rPr lang="en-US" sz="1600" b="1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b="1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de </a:t>
            </a:r>
            <a:r>
              <a:rPr lang="en-US" sz="1600" b="1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" y="3657600"/>
            <a:ext cx="640080" cy="0"/>
          </a:xfrm>
          <a:prstGeom prst="line">
            <a:avLst/>
          </a:prstGeom>
          <a:noFill/>
          <a:ln w="444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7" name="Shape 25"/>
          <p:cNvSpPr/>
          <p:nvPr/>
        </p:nvSpPr>
        <p:spPr>
          <a:xfrm>
            <a:off x="1389888" y="34198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8" name="Text 26"/>
          <p:cNvSpPr/>
          <p:nvPr/>
        </p:nvSpPr>
        <p:spPr>
          <a:xfrm>
            <a:off x="1389888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057400" y="3200400"/>
            <a:ext cx="397764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30" name="Shape 28"/>
          <p:cNvSpPr/>
          <p:nvPr/>
        </p:nvSpPr>
        <p:spPr>
          <a:xfrm>
            <a:off x="2057400" y="3200400"/>
            <a:ext cx="64008" cy="91440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31" name="Text 29"/>
          <p:cNvSpPr/>
          <p:nvPr/>
        </p:nvSpPr>
        <p:spPr>
          <a:xfrm>
            <a:off x="22860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· Modelos y resultados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9360" y="3657600"/>
            <a:ext cx="640080" cy="0"/>
          </a:xfrm>
          <a:prstGeom prst="line">
            <a:avLst/>
          </a:prstGeom>
          <a:noFill/>
          <a:ln w="444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3" name="Shape 31"/>
          <p:cNvSpPr/>
          <p:nvPr/>
        </p:nvSpPr>
        <p:spPr>
          <a:xfrm>
            <a:off x="6876288" y="34198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4" name="Text 32"/>
          <p:cNvSpPr/>
          <p:nvPr/>
        </p:nvSpPr>
        <p:spPr>
          <a:xfrm>
            <a:off x="6876288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543800" y="3200400"/>
            <a:ext cx="397764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36" name="Shape 34"/>
          <p:cNvSpPr/>
          <p:nvPr/>
        </p:nvSpPr>
        <p:spPr>
          <a:xfrm>
            <a:off x="7543800" y="3200400"/>
            <a:ext cx="64008" cy="914400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37" name="Text 35"/>
          <p:cNvSpPr/>
          <p:nvPr/>
        </p:nvSpPr>
        <p:spPr>
          <a:xfrm>
            <a:off x="777240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· Flujo agéntico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2960" y="5257800"/>
            <a:ext cx="640080" cy="0"/>
          </a:xfrm>
          <a:prstGeom prst="line">
            <a:avLst/>
          </a:prstGeom>
          <a:noFill/>
          <a:ln w="444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9" name="Shape 37"/>
          <p:cNvSpPr/>
          <p:nvPr/>
        </p:nvSpPr>
        <p:spPr>
          <a:xfrm>
            <a:off x="1389888" y="50200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40" name="Text 38"/>
          <p:cNvSpPr/>
          <p:nvPr/>
        </p:nvSpPr>
        <p:spPr>
          <a:xfrm>
            <a:off x="1389888" y="5020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057400" y="4800600"/>
            <a:ext cx="397764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42" name="Shape 40"/>
          <p:cNvSpPr/>
          <p:nvPr/>
        </p:nvSpPr>
        <p:spPr>
          <a:xfrm>
            <a:off x="2057400" y="4800600"/>
            <a:ext cx="64008" cy="914400"/>
          </a:xfrm>
          <a:prstGeom prst="rect">
            <a:avLst/>
          </a:prstGeom>
          <a:solidFill>
            <a:srgbClr val="EFA6BB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43" name="Text 41"/>
          <p:cNvSpPr/>
          <p:nvPr/>
        </p:nvSpPr>
        <p:spPr>
          <a:xfrm>
            <a:off x="2286000" y="4800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del agente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9360" y="5257800"/>
            <a:ext cx="640080" cy="0"/>
          </a:xfrm>
          <a:prstGeom prst="line">
            <a:avLst/>
          </a:prstGeom>
          <a:noFill/>
          <a:ln w="444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45" name="Shape 43"/>
          <p:cNvSpPr/>
          <p:nvPr/>
        </p:nvSpPr>
        <p:spPr>
          <a:xfrm>
            <a:off x="6876288" y="50200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46" name="Text 44"/>
          <p:cNvSpPr/>
          <p:nvPr/>
        </p:nvSpPr>
        <p:spPr>
          <a:xfrm>
            <a:off x="6876288" y="5020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543800" y="4800600"/>
            <a:ext cx="397764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48" name="Shape 46"/>
          <p:cNvSpPr/>
          <p:nvPr/>
        </p:nvSpPr>
        <p:spPr>
          <a:xfrm>
            <a:off x="7543800" y="4800600"/>
            <a:ext cx="64008" cy="91440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49" name="Text 47"/>
          <p:cNvSpPr/>
          <p:nvPr/>
        </p:nvSpPr>
        <p:spPr>
          <a:xfrm>
            <a:off x="7772400" y="4800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8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DFB15-9172-6DB3-190F-B7846937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C6984A-FE9D-7AC0-F476-772F78DA7397}"/>
              </a:ext>
            </a:extLst>
          </p:cNvPr>
          <p:cNvSpPr/>
          <p:nvPr/>
        </p:nvSpPr>
        <p:spPr>
          <a:xfrm>
            <a:off x="0" y="548640"/>
            <a:ext cx="640080" cy="0"/>
          </a:xfrm>
          <a:prstGeom prst="line">
            <a:avLst/>
          </a:prstGeom>
          <a:noFill/>
          <a:ln w="444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35781A-BA1A-0763-2D03-6D6866674AF6}"/>
              </a:ext>
            </a:extLst>
          </p:cNvPr>
          <p:cNvSpPr/>
          <p:nvPr/>
        </p:nvSpPr>
        <p:spPr>
          <a:xfrm>
            <a:off x="557784" y="466344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6813D9-E33B-009B-CD86-378A30DDCF5A}"/>
              </a:ext>
            </a:extLst>
          </p:cNvPr>
          <p:cNvSpPr/>
          <p:nvPr/>
        </p:nvSpPr>
        <p:spPr>
          <a:xfrm>
            <a:off x="0" y="841248"/>
            <a:ext cx="896112" cy="0"/>
          </a:xfrm>
          <a:prstGeom prst="line">
            <a:avLst/>
          </a:prstGeom>
          <a:noFill/>
          <a:ln w="4445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54CFA0-8B33-D436-851E-4535C26092CD}"/>
              </a:ext>
            </a:extLst>
          </p:cNvPr>
          <p:cNvSpPr/>
          <p:nvPr/>
        </p:nvSpPr>
        <p:spPr>
          <a:xfrm>
            <a:off x="813816" y="758952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98B49BF-0DE7-E7EC-BAD5-D14B818169D2}"/>
              </a:ext>
            </a:extLst>
          </p:cNvPr>
          <p:cNvSpPr/>
          <p:nvPr/>
        </p:nvSpPr>
        <p:spPr>
          <a:xfrm>
            <a:off x="0" y="1133856"/>
            <a:ext cx="1152144" cy="0"/>
          </a:xfrm>
          <a:prstGeom prst="line">
            <a:avLst/>
          </a:prstGeom>
          <a:noFill/>
          <a:ln w="444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AB10E98-8BD3-8871-B275-EB880E987435}"/>
              </a:ext>
            </a:extLst>
          </p:cNvPr>
          <p:cNvSpPr/>
          <p:nvPr/>
        </p:nvSpPr>
        <p:spPr>
          <a:xfrm>
            <a:off x="1069848" y="1051560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524CCEE-5A65-1FF9-A5A3-229F249EA6B9}"/>
              </a:ext>
            </a:extLst>
          </p:cNvPr>
          <p:cNvSpPr/>
          <p:nvPr/>
        </p:nvSpPr>
        <p:spPr>
          <a:xfrm>
            <a:off x="0" y="1426464"/>
            <a:ext cx="1408176" cy="0"/>
          </a:xfrm>
          <a:prstGeom prst="line">
            <a:avLst/>
          </a:prstGeom>
          <a:noFill/>
          <a:ln w="444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46A65F9-7CAD-06FF-4888-D5C3538564E9}"/>
              </a:ext>
            </a:extLst>
          </p:cNvPr>
          <p:cNvSpPr/>
          <p:nvPr/>
        </p:nvSpPr>
        <p:spPr>
          <a:xfrm>
            <a:off x="1325880" y="1344168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B2BB83-E25A-A9B3-C066-6A4648DA04F0}"/>
              </a:ext>
            </a:extLst>
          </p:cNvPr>
          <p:cNvSpPr/>
          <p:nvPr/>
        </p:nvSpPr>
        <p:spPr>
          <a:xfrm>
            <a:off x="0" y="1719072"/>
            <a:ext cx="1664208" cy="0"/>
          </a:xfrm>
          <a:prstGeom prst="line">
            <a:avLst/>
          </a:prstGeom>
          <a:noFill/>
          <a:ln w="444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8D51913-3E60-0EDC-B482-43B9EE472121}"/>
              </a:ext>
            </a:extLst>
          </p:cNvPr>
          <p:cNvSpPr/>
          <p:nvPr/>
        </p:nvSpPr>
        <p:spPr>
          <a:xfrm>
            <a:off x="1581912" y="1636776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EEE032A-B4B5-7778-C9EC-014B424C946E}"/>
              </a:ext>
            </a:extLst>
          </p:cNvPr>
          <p:cNvSpPr/>
          <p:nvPr/>
        </p:nvSpPr>
        <p:spPr>
          <a:xfrm>
            <a:off x="11521440" y="6309360"/>
            <a:ext cx="640080" cy="0"/>
          </a:xfrm>
          <a:prstGeom prst="line">
            <a:avLst/>
          </a:prstGeom>
          <a:noFill/>
          <a:ln w="444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780F88E-6122-4158-F361-8AD139CA8AE0}"/>
              </a:ext>
            </a:extLst>
          </p:cNvPr>
          <p:cNvSpPr/>
          <p:nvPr/>
        </p:nvSpPr>
        <p:spPr>
          <a:xfrm>
            <a:off x="11439144" y="6227064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349639B-613E-F331-57FA-1D1409F9BD05}"/>
              </a:ext>
            </a:extLst>
          </p:cNvPr>
          <p:cNvSpPr/>
          <p:nvPr/>
        </p:nvSpPr>
        <p:spPr>
          <a:xfrm>
            <a:off x="11265408" y="6016752"/>
            <a:ext cx="896112" cy="0"/>
          </a:xfrm>
          <a:prstGeom prst="line">
            <a:avLst/>
          </a:prstGeom>
          <a:noFill/>
          <a:ln w="444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3BD1DF-FB2D-B82E-DF8B-6B9B41CD441E}"/>
              </a:ext>
            </a:extLst>
          </p:cNvPr>
          <p:cNvSpPr/>
          <p:nvPr/>
        </p:nvSpPr>
        <p:spPr>
          <a:xfrm>
            <a:off x="11183112" y="5934456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0B7D3FA-0376-8EAB-D220-FA1566A6AC83}"/>
              </a:ext>
            </a:extLst>
          </p:cNvPr>
          <p:cNvSpPr/>
          <p:nvPr/>
        </p:nvSpPr>
        <p:spPr>
          <a:xfrm>
            <a:off x="11009376" y="5724144"/>
            <a:ext cx="1152144" cy="0"/>
          </a:xfrm>
          <a:prstGeom prst="line">
            <a:avLst/>
          </a:prstGeom>
          <a:noFill/>
          <a:ln w="444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A0D199D-BDEE-7235-232E-2D6FADCECF67}"/>
              </a:ext>
            </a:extLst>
          </p:cNvPr>
          <p:cNvSpPr/>
          <p:nvPr/>
        </p:nvSpPr>
        <p:spPr>
          <a:xfrm>
            <a:off x="10927080" y="5641848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B812C4D-5586-7949-E37D-8408BEEB3F8D}"/>
              </a:ext>
            </a:extLst>
          </p:cNvPr>
          <p:cNvSpPr/>
          <p:nvPr/>
        </p:nvSpPr>
        <p:spPr>
          <a:xfrm>
            <a:off x="10753344" y="5431536"/>
            <a:ext cx="1408176" cy="0"/>
          </a:xfrm>
          <a:prstGeom prst="line">
            <a:avLst/>
          </a:prstGeom>
          <a:noFill/>
          <a:ln w="4445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833FBB2-6BE0-1CF8-017B-775998A18922}"/>
              </a:ext>
            </a:extLst>
          </p:cNvPr>
          <p:cNvSpPr/>
          <p:nvPr/>
        </p:nvSpPr>
        <p:spPr>
          <a:xfrm>
            <a:off x="10671048" y="5349240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F31699F-F5BC-625C-E899-5BA19E7BCFD2}"/>
              </a:ext>
            </a:extLst>
          </p:cNvPr>
          <p:cNvSpPr/>
          <p:nvPr/>
        </p:nvSpPr>
        <p:spPr>
          <a:xfrm>
            <a:off x="10497312" y="5138928"/>
            <a:ext cx="1664208" cy="0"/>
          </a:xfrm>
          <a:prstGeom prst="line">
            <a:avLst/>
          </a:prstGeom>
          <a:noFill/>
          <a:ln w="444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B038552-1C21-25FF-FFC6-085D865EB4F2}"/>
              </a:ext>
            </a:extLst>
          </p:cNvPr>
          <p:cNvSpPr/>
          <p:nvPr/>
        </p:nvSpPr>
        <p:spPr>
          <a:xfrm>
            <a:off x="10415016" y="5056632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793CAF8-1D78-776E-3831-D2D1402B1406}"/>
              </a:ext>
            </a:extLst>
          </p:cNvPr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 err="1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28AE248-C5AE-B874-6ECF-6A5544C6EAC6}"/>
              </a:ext>
            </a:extLst>
          </p:cNvPr>
          <p:cNvSpPr/>
          <p:nvPr/>
        </p:nvSpPr>
        <p:spPr>
          <a:xfrm>
            <a:off x="914400" y="17830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Generar</a:t>
            </a: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</a:t>
            </a: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estrategia</a:t>
            </a: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MLOps</a:t>
            </a: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y </a:t>
            </a: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LLMOps</a:t>
            </a: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para </a:t>
            </a: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solucionar</a:t>
            </a: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un el </a:t>
            </a: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ofrecimeinto</a:t>
            </a: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</a:t>
            </a: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opciones</a:t>
            </a: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</a:t>
            </a:r>
            <a:r>
              <a:rPr lang="en-US" sz="30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pago</a:t>
            </a:r>
            <a:endParaRPr lang="en-US" sz="3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11415C5-FE00-4080-0AAF-3202862C812A}"/>
              </a:ext>
            </a:extLst>
          </p:cNvPr>
          <p:cNvSpPr/>
          <p:nvPr/>
        </p:nvSpPr>
        <p:spPr>
          <a:xfrm>
            <a:off x="822960" y="3429000"/>
            <a:ext cx="4010184" cy="2148840"/>
          </a:xfrm>
          <a:prstGeom prst="rect">
            <a:avLst/>
          </a:prstGeom>
          <a:solidFill>
            <a:srgbClr val="3A3531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32595A0-FA3F-7A9D-4918-1E2158EABABF}"/>
              </a:ext>
            </a:extLst>
          </p:cNvPr>
          <p:cNvSpPr/>
          <p:nvPr/>
        </p:nvSpPr>
        <p:spPr>
          <a:xfrm>
            <a:off x="822959" y="3428999"/>
            <a:ext cx="4010183" cy="82279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6CD4972-A1D8-7F02-541C-0037C6203CE3}"/>
              </a:ext>
            </a:extLst>
          </p:cNvPr>
          <p:cNvSpPr/>
          <p:nvPr/>
        </p:nvSpPr>
        <p:spPr>
          <a:xfrm>
            <a:off x="1097280" y="3840480"/>
            <a:ext cx="502920" cy="0"/>
          </a:xfrm>
          <a:prstGeom prst="line">
            <a:avLst/>
          </a:prstGeom>
          <a:noFill/>
          <a:ln w="381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1706AAB-4ADA-3AB8-9E83-E3FC922F3E1B}"/>
              </a:ext>
            </a:extLst>
          </p:cNvPr>
          <p:cNvSpPr/>
          <p:nvPr/>
        </p:nvSpPr>
        <p:spPr>
          <a:xfrm>
            <a:off x="1527048" y="3758184"/>
            <a:ext cx="164592" cy="164592"/>
          </a:xfrm>
          <a:prstGeom prst="ellipse">
            <a:avLst/>
          </a:prstGeom>
          <a:solidFill>
            <a:srgbClr val="3A3531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32604CF-316C-BDF7-4752-2CBE437F5925}"/>
              </a:ext>
            </a:extLst>
          </p:cNvPr>
          <p:cNvSpPr/>
          <p:nvPr/>
        </p:nvSpPr>
        <p:spPr>
          <a:xfrm>
            <a:off x="109728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41A7B72-1134-A143-40B3-3D72A55175CE}"/>
              </a:ext>
            </a:extLst>
          </p:cNvPr>
          <p:cNvSpPr/>
          <p:nvPr/>
        </p:nvSpPr>
        <p:spPr>
          <a:xfrm>
            <a:off x="1097280" y="4389120"/>
            <a:ext cx="360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Pipeline de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modelamento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permita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aceptaran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5EEB33A-41EB-5A72-BCF1-86136FDF6BDF}"/>
              </a:ext>
            </a:extLst>
          </p:cNvPr>
          <p:cNvSpPr/>
          <p:nvPr/>
        </p:nvSpPr>
        <p:spPr>
          <a:xfrm>
            <a:off x="6096000" y="3433572"/>
            <a:ext cx="3930936" cy="2148840"/>
          </a:xfrm>
          <a:prstGeom prst="rect">
            <a:avLst/>
          </a:prstGeom>
          <a:solidFill>
            <a:srgbClr val="3A3531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DA44672-56FB-A31B-A5F3-326E5B91B34D}"/>
              </a:ext>
            </a:extLst>
          </p:cNvPr>
          <p:cNvSpPr/>
          <p:nvPr/>
        </p:nvSpPr>
        <p:spPr>
          <a:xfrm>
            <a:off x="6096000" y="3433572"/>
            <a:ext cx="3930936" cy="73152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E0CD5F5-01D0-A475-12BC-830A0C802D66}"/>
              </a:ext>
            </a:extLst>
          </p:cNvPr>
          <p:cNvSpPr/>
          <p:nvPr/>
        </p:nvSpPr>
        <p:spPr>
          <a:xfrm>
            <a:off x="6288712" y="3845052"/>
            <a:ext cx="502920" cy="0"/>
          </a:xfrm>
          <a:prstGeom prst="line">
            <a:avLst/>
          </a:prstGeom>
          <a:noFill/>
          <a:ln w="381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3001767-0619-9490-B42A-A2C146B171A6}"/>
              </a:ext>
            </a:extLst>
          </p:cNvPr>
          <p:cNvSpPr/>
          <p:nvPr/>
        </p:nvSpPr>
        <p:spPr>
          <a:xfrm>
            <a:off x="6808542" y="3762756"/>
            <a:ext cx="164592" cy="164592"/>
          </a:xfrm>
          <a:prstGeom prst="ellipse">
            <a:avLst/>
          </a:prstGeom>
          <a:solidFill>
            <a:srgbClr val="3A3531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6D40ACE-51BA-FCD6-A6EB-FD46861921F0}"/>
              </a:ext>
            </a:extLst>
          </p:cNvPr>
          <p:cNvSpPr/>
          <p:nvPr/>
        </p:nvSpPr>
        <p:spPr>
          <a:xfrm>
            <a:off x="6334432" y="4027932"/>
            <a:ext cx="3509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</a:t>
            </a:r>
            <a:endParaRPr lang="en-US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8CC5762-CA48-DF4D-39A8-7144FD14EE6F}"/>
              </a:ext>
            </a:extLst>
          </p:cNvPr>
          <p:cNvSpPr/>
          <p:nvPr/>
        </p:nvSpPr>
        <p:spPr>
          <a:xfrm>
            <a:off x="6288712" y="4393692"/>
            <a:ext cx="3509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agéntico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permita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ineracción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r>
              <a:rPr lang="en-US" sz="14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41638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MLOPS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Exploración</a:t>
            </a: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estadística</a:t>
            </a: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y </a:t>
            </a:r>
            <a:r>
              <a:rPr lang="en-US" sz="24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partición</a:t>
            </a: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temporal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4937760" cy="1920240"/>
          </a:xfrm>
          <a:prstGeom prst="rect">
            <a:avLst/>
          </a:prstGeom>
          <a:solidFill>
            <a:srgbClr val="2B2825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6868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1810512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con un </a:t>
            </a:r>
            <a:r>
              <a:rPr lang="en-US" sz="1300" b="1" dirty="0">
                <a:solidFill>
                  <a:srgbClr val="55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clasificación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un cliente en mora aceptará una opción de pago, y negociar las alternativas con un </a:t>
            </a:r>
            <a:r>
              <a:rPr lang="en-US" sz="1300" b="1" dirty="0">
                <a:solidFill>
                  <a:srgbClr val="3C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(LLM)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4937760" cy="265176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64008" cy="265176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objetivo: var_rpta_alt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77240" y="3886200"/>
          <a:ext cx="210312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2926080" y="4160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C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3000" dirty="0"/>
          </a:p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aceptó opción de pago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2926080" y="5074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balanceadas (~48% / 52%)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806440" y="1325880"/>
            <a:ext cx="5715000" cy="233172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5806440" y="1325880"/>
            <a:ext cx="64008" cy="2331720"/>
          </a:xfrm>
          <a:prstGeom prst="rect">
            <a:avLst/>
          </a:prstGeom>
          <a:solidFill>
            <a:srgbClr val="F2C81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0" descr="/home/claude/anexos/image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98464" y="1472184"/>
            <a:ext cx="5376672" cy="172821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989320" y="3328416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por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maestra_cuota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806440" y="3794760"/>
            <a:ext cx="2788920" cy="22860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4"/>
          <p:cNvSpPr/>
          <p:nvPr/>
        </p:nvSpPr>
        <p:spPr>
          <a:xfrm>
            <a:off x="5806440" y="3794760"/>
            <a:ext cx="64008" cy="228600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1" descr="/home/claude/anexos/image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98464" y="3941064"/>
            <a:ext cx="2450592" cy="16824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989320" y="57515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master_customer_data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8732520" y="3794760"/>
            <a:ext cx="2788920" cy="22860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7"/>
          <p:cNvSpPr/>
          <p:nvPr/>
        </p:nvSpPr>
        <p:spPr>
          <a:xfrm>
            <a:off x="8732520" y="3794760"/>
            <a:ext cx="64008" cy="2286000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2" descr="/home/claude/anexos/image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24544" y="3941064"/>
            <a:ext cx="2450592" cy="168249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915400" y="57515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· ANÁLISIS DE DATOS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400" b="1" noProof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Construcción</a:t>
            </a: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dataset de </a:t>
            </a:r>
            <a:r>
              <a:rPr lang="es-CO" sz="2400" b="1" noProof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entrenamiento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166975"/>
            <a:ext cx="548640" cy="46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8001000" cy="25146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5" name="Shape 13"/>
          <p:cNvSpPr/>
          <p:nvPr/>
        </p:nvSpPr>
        <p:spPr>
          <a:xfrm>
            <a:off x="640080" y="1325880"/>
            <a:ext cx="64008" cy="251460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17" name="Text 14"/>
          <p:cNvSpPr/>
          <p:nvPr/>
        </p:nvSpPr>
        <p:spPr>
          <a:xfrm>
            <a:off x="822960" y="3511296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s-CO" sz="950" i="1" noProof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950" dirty="0"/>
          </a:p>
        </p:txBody>
      </p:sp>
      <p:pic>
        <p:nvPicPr>
          <p:cNvPr id="20" name="Image 1" descr="/home/claude/anexos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444752"/>
            <a:ext cx="7726680" cy="197510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080760" y="4169664"/>
            <a:ext cx="2606040" cy="2002536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3"/>
          <p:cNvSpPr/>
          <p:nvPr/>
        </p:nvSpPr>
        <p:spPr>
          <a:xfrm>
            <a:off x="6080760" y="4169664"/>
            <a:ext cx="64008" cy="2002536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4"/>
          <p:cNvSpPr/>
          <p:nvPr/>
        </p:nvSpPr>
        <p:spPr>
          <a:xfrm>
            <a:off x="6204204" y="4257914"/>
            <a:ext cx="2286000" cy="222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126480" y="4667362"/>
            <a:ext cx="2514600" cy="480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E884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389</a:t>
            </a:r>
            <a:endParaRPr lang="en-US" sz="6200" dirty="0"/>
          </a:p>
        </p:txBody>
      </p:sp>
      <p:sp>
        <p:nvSpPr>
          <p:cNvPr id="31" name="Text 26"/>
          <p:cNvSpPr/>
          <p:nvPr/>
        </p:nvSpPr>
        <p:spPr>
          <a:xfrm>
            <a:off x="6144768" y="5534374"/>
            <a:ext cx="2514600" cy="222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construidas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823960" y="1316736"/>
            <a:ext cx="2697480" cy="4855464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29"/>
          <p:cNvSpPr/>
          <p:nvPr/>
        </p:nvSpPr>
        <p:spPr>
          <a:xfrm>
            <a:off x="8823960" y="1316736"/>
            <a:ext cx="64008" cy="4855464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0"/>
          <p:cNvSpPr/>
          <p:nvPr/>
        </p:nvSpPr>
        <p:spPr>
          <a:xfrm>
            <a:off x="8887968" y="1362456"/>
            <a:ext cx="2377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variables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8915400" y="1845637"/>
            <a:ext cx="2514600" cy="413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Autorregresivas (1 y 2 meses)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de probabilidades de cobranza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y nº de obligaciones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financieros + log de </a:t>
            </a: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asimétricas</a:t>
            </a: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variable de objective de meses </a:t>
            </a: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anteriores</a:t>
            </a: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</a:t>
            </a:r>
            <a:endParaRPr lang="en-US" sz="1400" dirty="0">
              <a:solidFill>
                <a:srgbClr val="2B282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</a:t>
            </a: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 </a:t>
            </a: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categoricas</a:t>
            </a: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</a:t>
            </a:r>
            <a:r>
              <a:rPr lang="en-US" sz="14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</a:t>
            </a:r>
            <a:endParaRPr lang="en-US" sz="1400" dirty="0">
              <a:solidFill>
                <a:srgbClr val="2B282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E2E6C1B6-15B5-9559-AA4A-D8A76E45C8C0}"/>
              </a:ext>
            </a:extLst>
          </p:cNvPr>
          <p:cNvSpPr/>
          <p:nvPr/>
        </p:nvSpPr>
        <p:spPr>
          <a:xfrm>
            <a:off x="642112" y="4169664"/>
            <a:ext cx="5210048" cy="1828800"/>
          </a:xfrm>
          <a:prstGeom prst="rect">
            <a:avLst/>
          </a:prstGeom>
          <a:solidFill>
            <a:srgbClr val="2B2825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6B10C8F0-2C86-283C-3F5A-8D499358AB85}"/>
              </a:ext>
            </a:extLst>
          </p:cNvPr>
          <p:cNvSpPr/>
          <p:nvPr/>
        </p:nvSpPr>
        <p:spPr>
          <a:xfrm>
            <a:off x="870712" y="4443984"/>
            <a:ext cx="525383" cy="0"/>
          </a:xfrm>
          <a:prstGeom prst="line">
            <a:avLst/>
          </a:prstGeom>
          <a:noFill/>
          <a:ln w="381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F0CF26E5-7127-FC17-C6CA-DFE93068EB3C}"/>
              </a:ext>
            </a:extLst>
          </p:cNvPr>
          <p:cNvSpPr/>
          <p:nvPr/>
        </p:nvSpPr>
        <p:spPr>
          <a:xfrm>
            <a:off x="1346200" y="4361688"/>
            <a:ext cx="157615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08B84664-87AD-AB86-85DB-521D076D49ED}"/>
              </a:ext>
            </a:extLst>
          </p:cNvPr>
          <p:cNvSpPr/>
          <p:nvPr/>
        </p:nvSpPr>
        <p:spPr>
          <a:xfrm>
            <a:off x="1647952" y="4306824"/>
            <a:ext cx="41155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cronológica (OOT)</a:t>
            </a:r>
            <a:endParaRPr lang="en-US" sz="1400" dirty="0"/>
          </a:p>
        </p:txBody>
      </p:sp>
      <p:pic>
        <p:nvPicPr>
          <p:cNvPr id="48" name="Image 2" descr="/home/claude/anexos/image10.png">
            <a:extLst>
              <a:ext uri="{FF2B5EF4-FFF2-40B4-BE49-F238E27FC236}">
                <a16:creationId xmlns:a16="http://schemas.microsoft.com/office/drawing/2014/main" id="{1AE750BA-8EAA-B107-F3F4-08A698971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6432" y="4718304"/>
            <a:ext cx="4728447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C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· MODELOS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Selección de variables por importancia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5989320" cy="48006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40080" y="1325880"/>
            <a:ext cx="64008" cy="480060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anexos/image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104" y="1472184"/>
            <a:ext cx="5650992" cy="41970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57972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variables más importantes — Random Forest (umbral de importancia &gt; 0.001)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12280" y="1325880"/>
            <a:ext cx="4709160" cy="25146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6812280" y="1325880"/>
            <a:ext cx="64008" cy="2514600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1" descr="/home/claude/anexos/image1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04304" y="1472184"/>
            <a:ext cx="4370832" cy="19110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95160" y="351129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modelos con optimización de hiperparámetros (Optuna)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812280" y="3977640"/>
            <a:ext cx="4709160" cy="2148840"/>
          </a:xfrm>
          <a:prstGeom prst="rect">
            <a:avLst/>
          </a:prstGeom>
          <a:solidFill>
            <a:srgbClr val="2B2825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/>
          <p:nvPr/>
        </p:nvSpPr>
        <p:spPr>
          <a:xfrm>
            <a:off x="704088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040880" y="4480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C6C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389</a:t>
            </a: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→  </a:t>
            </a:r>
            <a:r>
              <a:rPr lang="en-US" sz="4000" b="1" dirty="0">
                <a:solidFill>
                  <a:srgbClr val="3CAF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140</a:t>
            </a:r>
            <a:endParaRPr lang="en-US" sz="3400" dirty="0"/>
          </a:p>
        </p:txBody>
      </p:sp>
      <p:sp>
        <p:nvSpPr>
          <p:cNvPr id="25" name="Text 21"/>
          <p:cNvSpPr/>
          <p:nvPr/>
        </p:nvSpPr>
        <p:spPr>
          <a:xfrm>
            <a:off x="7040880" y="53492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−64% de variables → modelo más mantenible, rápido de entrenar y menos propenso a sobreajuste.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C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· RESULTADOS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Búsqueda de grilla y desempeño del modelo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3383280" cy="1143000"/>
          </a:xfrm>
          <a:prstGeom prst="rect">
            <a:avLst/>
          </a:prstGeom>
          <a:solidFill>
            <a:srgbClr val="2B2825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40080" y="1325880"/>
            <a:ext cx="64008" cy="114300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68680" y="137160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4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~80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423160" y="13716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87952" y="1325880"/>
            <a:ext cx="3355848" cy="1143000"/>
          </a:xfrm>
          <a:prstGeom prst="rect">
            <a:avLst/>
          </a:prstGeom>
          <a:solidFill>
            <a:srgbClr val="2B2825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187952" y="1325880"/>
            <a:ext cx="64008" cy="114300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416552" y="137160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CAF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0.71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971032" y="137160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del mejor modelo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2651760"/>
            <a:ext cx="3383280" cy="164592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40080" y="2651760"/>
            <a:ext cx="64008" cy="164592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0" descr="/home/claude/anexos/image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104" y="2798064"/>
            <a:ext cx="3044952" cy="104241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22960" y="3968496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hiperparámetros — Gradient Boosting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60520" y="2651760"/>
            <a:ext cx="3383280" cy="164592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4160520" y="2651760"/>
            <a:ext cx="64008" cy="1645920"/>
          </a:xfrm>
          <a:prstGeom prst="rect">
            <a:avLst/>
          </a:prstGeom>
          <a:solidFill>
            <a:srgbClr val="F2C81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2" name="Image 1" descr="/home/claude/anexos/image1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52544" y="2798064"/>
            <a:ext cx="3044952" cy="104241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343400" y="3968496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hiperparámetros — Extra Trees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680960" y="1371600"/>
            <a:ext cx="3840480" cy="47548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1"/>
          <p:cNvSpPr/>
          <p:nvPr/>
        </p:nvSpPr>
        <p:spPr>
          <a:xfrm>
            <a:off x="7680960" y="2651760"/>
            <a:ext cx="64008" cy="3474720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2"/>
          <p:cNvSpPr/>
          <p:nvPr/>
        </p:nvSpPr>
        <p:spPr>
          <a:xfrm>
            <a:off x="7863840" y="579729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modelo sin normalizar (búsqueda de umbral)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40080" y="4480560"/>
            <a:ext cx="6903720" cy="164592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4"/>
          <p:cNvSpPr/>
          <p:nvPr/>
        </p:nvSpPr>
        <p:spPr>
          <a:xfrm>
            <a:off x="640080" y="4480560"/>
            <a:ext cx="64008" cy="164592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5"/>
          <p:cNvSpPr/>
          <p:nvPr/>
        </p:nvSpPr>
        <p:spPr>
          <a:xfrm>
            <a:off x="86868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914400" y="4937760"/>
            <a:ext cx="6537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calculadas fueron las de mayor impacto y las que elevaron la métrica.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probabilidades de cobranza (auto-cura, propensión, alerta temprana) son las más predictivas.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 demográfica aporta poco → candidata a retirar o reemplazar.</a:t>
            </a:r>
            <a:endParaRPr lang="en-US" sz="1100" dirty="0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7834EA19-CFB2-D9FE-078A-DCE13C6A10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000"/>
          <a:stretch>
            <a:fillRect/>
          </a:stretch>
        </p:blipFill>
        <p:spPr>
          <a:xfrm>
            <a:off x="8050784" y="1385270"/>
            <a:ext cx="3059176" cy="221252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10A77123-9347-18EB-8600-5CAE828D2A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706"/>
          <a:stretch>
            <a:fillRect/>
          </a:stretch>
        </p:blipFill>
        <p:spPr>
          <a:xfrm>
            <a:off x="8050784" y="3593726"/>
            <a:ext cx="3059176" cy="22442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5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· FLUJO AGÉNTICO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Agente negociador construido en n8n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escalable y personalizable, alineado a los lineamientos de construcción de agentes de Bancolombia.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1691640"/>
            <a:ext cx="10881360" cy="310896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40080" y="1691640"/>
            <a:ext cx="64008" cy="3108960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0" descr="/home/claude/anexos/image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104" y="1837944"/>
            <a:ext cx="10543032" cy="250545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4471416"/>
            <a:ext cx="10561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completa del agente: identificación de la interacción, memoria caché, caminos por campaña y reactivo, y negociación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0080" y="5029200"/>
            <a:ext cx="1691640" cy="100584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640080" y="5029200"/>
            <a:ext cx="1691640" cy="73152"/>
          </a:xfrm>
          <a:prstGeom prst="rect">
            <a:avLst/>
          </a:prstGeom>
          <a:solidFill>
            <a:srgbClr val="FEF9C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777240" y="5193792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EF9C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777240" y="5193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9808" y="5532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468880" y="5029200"/>
            <a:ext cx="1691640" cy="100584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2468880" y="5029200"/>
            <a:ext cx="1691640" cy="73152"/>
          </a:xfrm>
          <a:prstGeom prst="rect">
            <a:avLst/>
          </a:prstGeom>
          <a:solidFill>
            <a:srgbClr val="F2C81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2606040" y="5193792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2606040" y="5193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578608" y="5532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caché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297680" y="5029200"/>
            <a:ext cx="1691640" cy="100584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7"/>
          <p:cNvSpPr/>
          <p:nvPr/>
        </p:nvSpPr>
        <p:spPr>
          <a:xfrm>
            <a:off x="4297680" y="5029200"/>
            <a:ext cx="1691640" cy="73152"/>
          </a:xfrm>
          <a:prstGeom prst="rect">
            <a:avLst/>
          </a:prstGeom>
          <a:solidFill>
            <a:srgbClr val="F7E3C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4434840" y="5193792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7E3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4434840" y="5193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407408" y="5532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campaña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26480" y="5029200"/>
            <a:ext cx="1691640" cy="100584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2"/>
          <p:cNvSpPr/>
          <p:nvPr/>
        </p:nvSpPr>
        <p:spPr>
          <a:xfrm>
            <a:off x="6126480" y="5029200"/>
            <a:ext cx="1691640" cy="73152"/>
          </a:xfrm>
          <a:prstGeom prst="rect">
            <a:avLst/>
          </a:prstGeom>
          <a:solidFill>
            <a:srgbClr val="EFA6B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3"/>
          <p:cNvSpPr/>
          <p:nvPr/>
        </p:nvSpPr>
        <p:spPr>
          <a:xfrm>
            <a:off x="6263640" y="5193792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6263640" y="5193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236208" y="5532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reactivo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955280" y="5029200"/>
            <a:ext cx="1691640" cy="100584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" name="Shape 37"/>
          <p:cNvSpPr/>
          <p:nvPr/>
        </p:nvSpPr>
        <p:spPr>
          <a:xfrm>
            <a:off x="7955280" y="5029200"/>
            <a:ext cx="1691640" cy="73152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Shape 38"/>
          <p:cNvSpPr/>
          <p:nvPr/>
        </p:nvSpPr>
        <p:spPr>
          <a:xfrm>
            <a:off x="8092440" y="5193792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39"/>
          <p:cNvSpPr/>
          <p:nvPr/>
        </p:nvSpPr>
        <p:spPr>
          <a:xfrm>
            <a:off x="8092440" y="5193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065008" y="5532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caché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784080" y="5029200"/>
            <a:ext cx="1691640" cy="100584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5" name="Shape 42"/>
          <p:cNvSpPr/>
          <p:nvPr/>
        </p:nvSpPr>
        <p:spPr>
          <a:xfrm>
            <a:off x="9784080" y="5029200"/>
            <a:ext cx="1691640" cy="7315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43"/>
          <p:cNvSpPr/>
          <p:nvPr/>
        </p:nvSpPr>
        <p:spPr>
          <a:xfrm>
            <a:off x="9921240" y="5193792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4"/>
          <p:cNvSpPr/>
          <p:nvPr/>
        </p:nvSpPr>
        <p:spPr>
          <a:xfrm>
            <a:off x="9921240" y="5193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9893808" y="5532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Negociador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5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· MÓDULOS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6 módulos del flujo, en detalle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371600"/>
            <a:ext cx="3520440" cy="22402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40080" y="1371600"/>
            <a:ext cx="64008" cy="224028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anexos/image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104" y="1517904"/>
            <a:ext cx="3182112" cy="1636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32826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Identificación del origen de la comunicación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43400" y="1371600"/>
            <a:ext cx="3520440" cy="22402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343400" y="1371600"/>
            <a:ext cx="64008" cy="2240280"/>
          </a:xfrm>
          <a:prstGeom prst="rect">
            <a:avLst/>
          </a:prstGeom>
          <a:solidFill>
            <a:srgbClr val="F2C81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1" descr="/home/claude/anexos/image2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5424" y="1517904"/>
            <a:ext cx="3182112" cy="163677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26280" y="32826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Validación de identidad del cliente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046720" y="1371600"/>
            <a:ext cx="3520440" cy="22402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8046720" y="1371600"/>
            <a:ext cx="64008" cy="224028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2" descr="/home/claude/anexos/image2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38744" y="1517904"/>
            <a:ext cx="3182112" cy="16367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29600" y="32826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Consulta de alternativas (campaña)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40080" y="3794760"/>
            <a:ext cx="3520440" cy="22402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640080" y="3794760"/>
            <a:ext cx="64008" cy="2240280"/>
          </a:xfrm>
          <a:prstGeom prst="rect">
            <a:avLst/>
          </a:prstGeom>
          <a:solidFill>
            <a:srgbClr val="EFA6B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/home/claude/anexos/image2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2104" y="3941064"/>
            <a:ext cx="3182112" cy="163677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2960" y="570585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Identificación y consulta (reactivo)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343400" y="3794760"/>
            <a:ext cx="3520440" cy="22402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5"/>
          <p:cNvSpPr/>
          <p:nvPr/>
        </p:nvSpPr>
        <p:spPr>
          <a:xfrm>
            <a:off x="4343400" y="3794760"/>
            <a:ext cx="64008" cy="2240280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2" name="Image 4" descr="/home/claude/anexos/image24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35424" y="3941064"/>
            <a:ext cx="3182112" cy="163677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26280" y="570585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Guardado en caché (una sola vez)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046720" y="3794760"/>
            <a:ext cx="3520440" cy="22402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28"/>
          <p:cNvSpPr/>
          <p:nvPr/>
        </p:nvSpPr>
        <p:spPr>
          <a:xfrm>
            <a:off x="8046720" y="3794760"/>
            <a:ext cx="64008" cy="224028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5" descr="/home/claude/anexos/image2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38744" y="3941064"/>
            <a:ext cx="3182112" cy="163677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229600" y="570585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Negociador de alternativas (LLM)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· NEGOCIADOR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corazón del agente: </a:t>
            </a:r>
            <a:r>
              <a:rPr lang="en-US" sz="24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negociación</a:t>
            </a: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opciones</a:t>
            </a: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</a:t>
            </a:r>
            <a:r>
              <a:rPr lang="en-US" sz="24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pago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3657600" cy="4754880"/>
          </a:xfrm>
          <a:prstGeom prst="rect">
            <a:avLst/>
          </a:prstGeom>
          <a:solidFill>
            <a:srgbClr val="2B2825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68680" y="1691640"/>
            <a:ext cx="54864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1344168" y="1609344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6868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Agente LLM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C8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GPT-5 mini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8680" y="2788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Suficientemente potente para la negociación en pruebas iniciales.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3520440"/>
            <a:ext cx="3108960" cy="0"/>
          </a:xfrm>
          <a:prstGeom prst="line">
            <a:avLst/>
          </a:prstGeom>
          <a:noFill/>
          <a:ln w="19050">
            <a:solidFill>
              <a:srgbClr val="3A353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6868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MCP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023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alternativas consultado por identificador → menos tokens y más mantenible.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 reglas de tono, marca, cumplimiento y anti prompt-injection.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26280" y="1325880"/>
            <a:ext cx="6995160" cy="283464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26280" y="1325880"/>
            <a:ext cx="64008" cy="283464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0" descr="/home/claude/anexos/image25.png"/>
          <p:cNvPicPr>
            <a:picLocks noChangeAspect="1"/>
          </p:cNvPicPr>
          <p:nvPr/>
        </p:nvPicPr>
        <p:blipFill>
          <a:blip r:embed="rId3"/>
          <a:srcRect l="-137" t="-1639" r="-137" b="1639"/>
          <a:stretch>
            <a:fillRect/>
          </a:stretch>
        </p:blipFill>
        <p:spPr>
          <a:xfrm>
            <a:off x="4718304" y="1472184"/>
            <a:ext cx="6675120" cy="223113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709160" y="3831336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negociador de alternativas en n8n (agente LLM + herramientas)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26280" y="4343400"/>
            <a:ext cx="6995160" cy="173736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4526280" y="4343400"/>
            <a:ext cx="64008" cy="173736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4754880" y="4434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diseño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800600" y="4800600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interacciones por campaña y reactivas con un mismo flujo.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 y limita las llamadas a APIs y MCPs a puntos específicos.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robustez frente a prompt-injection: no siempre puede consultar datos sensibles.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F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· PRUEBAS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agente en acción: conversaciones de prueba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371600"/>
            <a:ext cx="3520440" cy="470916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40080" y="1371600"/>
            <a:ext cx="64008" cy="4709160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anexos/image2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3628" y="2662936"/>
            <a:ext cx="3182112" cy="15321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57515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entrante: identificación del cliente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43400" y="1371600"/>
            <a:ext cx="3520440" cy="470916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343400" y="1371600"/>
            <a:ext cx="64008" cy="470916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1" descr="/home/claude/anexos/image3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9704" y="2100072"/>
            <a:ext cx="3182112" cy="24770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26280" y="57515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Negociación: resumen de deuda y alternativas preaprobadas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046720" y="1371600"/>
            <a:ext cx="3474720" cy="470916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8046720" y="1371600"/>
            <a:ext cx="64008" cy="470916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2" descr="/home/claude/anexos/image2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5884" y="2024888"/>
            <a:ext cx="3136392" cy="24140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29600" y="575157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objeciones y alternativas al cliente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F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· EVALUACIÓN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escenarios de prueba del agente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417320"/>
            <a:ext cx="2743200" cy="1554480"/>
          </a:xfrm>
          <a:prstGeom prst="rect">
            <a:avLst/>
          </a:prstGeom>
          <a:solidFill>
            <a:srgbClr val="2B2825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0080" y="15087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FA6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77724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propuestos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14173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Cubren desde clientes que aceptan fácilmente hasta casos difíciles, fallas operativas y ataques de seguridad: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66160" y="2194560"/>
            <a:ext cx="3886200" cy="11430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566160" y="2194560"/>
            <a:ext cx="64008" cy="114300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749040" y="24688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7490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2359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saliente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27249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 temprana, alternativas múltiples, rechazo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35240" y="2194560"/>
            <a:ext cx="3886200" cy="11430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7635240" y="2194560"/>
            <a:ext cx="64008" cy="1143000"/>
          </a:xfrm>
          <a:prstGeom prst="rect">
            <a:avLst/>
          </a:prstGeom>
          <a:solidFill>
            <a:srgbClr val="F2C81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818120" y="24688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8181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2359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entrante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272491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Acuerdos, consulta de deuda, autenticación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66160" y="3520440"/>
            <a:ext cx="3886200" cy="11430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3566160" y="3520440"/>
            <a:ext cx="64008" cy="114300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749040" y="37947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7490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51960" y="3685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51960" y="40507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válido/erróneo, suplantación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35240" y="3520440"/>
            <a:ext cx="3886200" cy="11430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7635240" y="3520440"/>
            <a:ext cx="64008" cy="1143000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7818120" y="37947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78181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21040" y="3685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40507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Única, múltiples, vencidas, inconsistencias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566160" y="4846320"/>
            <a:ext cx="3886200" cy="11430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3566160" y="4846320"/>
            <a:ext cx="64008" cy="1143000"/>
          </a:xfrm>
          <a:prstGeom prst="rect">
            <a:avLst/>
          </a:prstGeom>
          <a:solidFill>
            <a:srgbClr val="EFA6B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3749040" y="51206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374904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251960" y="5010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251960" y="53766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extracción de reglas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635240" y="4846320"/>
            <a:ext cx="3886200" cy="114300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7635240" y="4846320"/>
            <a:ext cx="64008" cy="1143000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7818120" y="51206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781812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21040" y="5010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cumplimiento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321040" y="53766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caídos, timeouts, menores de edad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" y="3200400"/>
            <a:ext cx="2743200" cy="288036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5" name="Shape 53"/>
          <p:cNvSpPr/>
          <p:nvPr/>
        </p:nvSpPr>
        <p:spPr>
          <a:xfrm>
            <a:off x="640080" y="3200400"/>
            <a:ext cx="64008" cy="2880360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822960" y="3310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22960" y="370332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puntos claves </a:t>
            </a: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intent de prompt injections.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</a:t>
            </a: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12648"/>
            <a:ext cx="77724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4944" y="5303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7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 piloto a la producción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75720" y="45720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0" y="548640"/>
            <a:ext cx="59436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457200" cy="0"/>
          </a:xfrm>
          <a:prstGeom prst="line">
            <a:avLst/>
          </a:prstGeom>
          <a:noFill/>
          <a:ln w="317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32688" y="640080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887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Opciones de Pago  ·  Cobranza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5440680" cy="47548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40080" y="1325880"/>
            <a:ext cx="5440680" cy="50292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68680" y="13990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(MLOPS)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039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Calendarizar las ETLs de la información insumo.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26974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6868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26791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el modelo en producción vía Orquestador 2.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6868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319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métricas de desempeño.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" y="39776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686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39593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automático por umbral.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8680" y="46177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86868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45994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grilla si el reentreno no basta.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8680" y="52578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86868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52395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Power BI de desempeño.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09360" y="1325880"/>
            <a:ext cx="5212080" cy="4754880"/>
          </a:xfrm>
          <a:prstGeom prst="rect">
            <a:avLst/>
          </a:prstGeom>
          <a:solidFill>
            <a:srgbClr val="F1F1F1"/>
          </a:solidFill>
          <a:ln w="12700">
            <a:solidFill>
              <a:srgbClr val="E2E2E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309360" y="1325880"/>
            <a:ext cx="5212080" cy="502920"/>
          </a:xfrm>
          <a:prstGeom prst="rect">
            <a:avLst/>
          </a:prstGeom>
          <a:solidFill>
            <a:srgbClr val="2B2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537960" y="1399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(LLMOPS)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37960" y="20574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40880" y="2039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todos los casos con métricas de efectividad.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40880" y="26791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Productizar y crear MCP del catálogo de alternativas.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537960" y="333756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53796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40880" y="33192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Productizar MCP de preaprobadas por cliente.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537960" y="39776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65379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40880" y="39593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QA con conexiones MCP reales.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537960" y="46177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653796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40880" y="45994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usuarios dummy y ajustes.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537960" y="52578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653796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040880" y="52395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por subconjunto → masificación.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640080" cy="0"/>
          </a:xfrm>
          <a:prstGeom prst="line">
            <a:avLst/>
          </a:prstGeom>
          <a:noFill/>
          <a:ln w="444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841248"/>
            <a:ext cx="896112" cy="0"/>
          </a:xfrm>
          <a:prstGeom prst="line">
            <a:avLst/>
          </a:prstGeom>
          <a:noFill/>
          <a:ln w="4445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13816" y="758952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0" y="1133856"/>
            <a:ext cx="1152144" cy="0"/>
          </a:xfrm>
          <a:prstGeom prst="line">
            <a:avLst/>
          </a:prstGeom>
          <a:noFill/>
          <a:ln w="444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69848" y="1051560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0" y="1426464"/>
            <a:ext cx="1408176" cy="0"/>
          </a:xfrm>
          <a:prstGeom prst="line">
            <a:avLst/>
          </a:prstGeom>
          <a:noFill/>
          <a:ln w="444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325880" y="1344168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0" y="1719072"/>
            <a:ext cx="1664208" cy="0"/>
          </a:xfrm>
          <a:prstGeom prst="line">
            <a:avLst/>
          </a:prstGeom>
          <a:noFill/>
          <a:ln w="444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581912" y="1636776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1521440" y="6309360"/>
            <a:ext cx="640080" cy="0"/>
          </a:xfrm>
          <a:prstGeom prst="line">
            <a:avLst/>
          </a:prstGeom>
          <a:noFill/>
          <a:ln w="4445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439144" y="6227064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265408" y="6016752"/>
            <a:ext cx="896112" cy="0"/>
          </a:xfrm>
          <a:prstGeom prst="line">
            <a:avLst/>
          </a:prstGeom>
          <a:noFill/>
          <a:ln w="4445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183112" y="5934456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FA6B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11009376" y="5724144"/>
            <a:ext cx="1152144" cy="0"/>
          </a:xfrm>
          <a:prstGeom prst="line">
            <a:avLst/>
          </a:prstGeom>
          <a:noFill/>
          <a:ln w="4445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10927080" y="5641848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753344" y="5431536"/>
            <a:ext cx="1408176" cy="0"/>
          </a:xfrm>
          <a:prstGeom prst="line">
            <a:avLst/>
          </a:prstGeom>
          <a:noFill/>
          <a:ln w="4445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0671048" y="5349240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F2C8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10497312" y="5138928"/>
            <a:ext cx="1664208" cy="0"/>
          </a:xfrm>
          <a:prstGeom prst="line">
            <a:avLst/>
          </a:prstGeom>
          <a:noFill/>
          <a:ln w="4445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10415016" y="5056632"/>
            <a:ext cx="164592" cy="164592"/>
          </a:xfrm>
          <a:prstGeom prst="ellipse">
            <a:avLst/>
          </a:prstGeom>
          <a:solidFill>
            <a:srgbClr val="2B2825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17830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pipeline de punta a punta: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predecir la aceptación a negociarla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822960" y="3429000"/>
            <a:ext cx="3383280" cy="2148840"/>
          </a:xfrm>
          <a:prstGeom prst="rect">
            <a:avLst/>
          </a:prstGeom>
          <a:solidFill>
            <a:srgbClr val="3A3531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22960" y="3429000"/>
            <a:ext cx="3383280" cy="73152"/>
          </a:xfrm>
          <a:prstGeom prst="rect">
            <a:avLst/>
          </a:prstGeom>
          <a:solidFill>
            <a:srgbClr val="3CAF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1097280" y="3840480"/>
            <a:ext cx="502920" cy="0"/>
          </a:xfrm>
          <a:prstGeom prst="line">
            <a:avLst/>
          </a:prstGeom>
          <a:noFill/>
          <a:ln w="381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1527048" y="3758184"/>
            <a:ext cx="164592" cy="164592"/>
          </a:xfrm>
          <a:prstGeom prst="ellipse">
            <a:avLst/>
          </a:prstGeom>
          <a:solidFill>
            <a:srgbClr val="3A3531"/>
          </a:solidFill>
          <a:ln w="25400">
            <a:solidFill>
              <a:srgbClr val="3CAF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09728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43891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0.71 con ~80 modelos iterados y variables calculadas de alto impacto.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80560" y="3429000"/>
            <a:ext cx="3383280" cy="2148840"/>
          </a:xfrm>
          <a:prstGeom prst="rect">
            <a:avLst/>
          </a:prstGeom>
          <a:solidFill>
            <a:srgbClr val="3A3531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480560" y="3429000"/>
            <a:ext cx="3383280" cy="73152"/>
          </a:xfrm>
          <a:prstGeom prst="rect">
            <a:avLst/>
          </a:prstGeom>
          <a:solidFill>
            <a:srgbClr val="55BEE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502920" cy="0"/>
          </a:xfrm>
          <a:prstGeom prst="line">
            <a:avLst/>
          </a:prstGeom>
          <a:noFill/>
          <a:ln w="381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5184648" y="3758184"/>
            <a:ext cx="164592" cy="164592"/>
          </a:xfrm>
          <a:prstGeom prst="ellipse">
            <a:avLst/>
          </a:prstGeom>
          <a:solidFill>
            <a:srgbClr val="3A3531"/>
          </a:solidFill>
          <a:ln w="25400">
            <a:solidFill>
              <a:srgbClr val="55BE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75488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negociador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54880" y="43891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n8n seguro y escalable con GPT-5 mini y guardrails.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3429000"/>
            <a:ext cx="3383280" cy="2148840"/>
          </a:xfrm>
          <a:prstGeom prst="rect">
            <a:avLst/>
          </a:prstGeom>
          <a:solidFill>
            <a:srgbClr val="3A3531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8138160" y="3429000"/>
            <a:ext cx="3383280" cy="73152"/>
          </a:xfrm>
          <a:prstGeom prst="rect">
            <a:avLst/>
          </a:prstGeom>
          <a:solidFill>
            <a:srgbClr val="E8843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8412480" y="3840480"/>
            <a:ext cx="50292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8842248" y="3758184"/>
            <a:ext cx="164592" cy="164592"/>
          </a:xfrm>
          <a:prstGeom prst="ellipse">
            <a:avLst/>
          </a:prstGeom>
          <a:solidFill>
            <a:srgbClr val="3A3531"/>
          </a:solidFill>
          <a:ln w="25400">
            <a:solidFill>
              <a:srgbClr val="E884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841248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escalar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412480" y="438912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claro de MLOPS y LLMOPS hacia producción monitoreada.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2C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   ·   Jorge Sebastián Mora Lara ·  jormora@bancolombia.com.co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1073</Words>
  <Application>Microsoft Office PowerPoint</Application>
  <PresentationFormat>Panorámica</PresentationFormat>
  <Paragraphs>214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Opciones de Pago</dc:title>
  <dc:subject>PptxGenJS Presentation</dc:subject>
  <dc:creator>Jorge Sebastian Mora Lara</dc:creator>
  <cp:lastModifiedBy>Jorge Sebastian Mora Lara</cp:lastModifiedBy>
  <cp:revision>9</cp:revision>
  <dcterms:created xsi:type="dcterms:W3CDTF">2026-09-13T23:07:41Z</dcterms:created>
  <dcterms:modified xsi:type="dcterms:W3CDTF">2026-09-14T00:25:09Z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2026-09-13T23:07:42Z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5658f763-e192-4d57-b9e9-6f4ff9974def</vt:lpwstr>
  </property>
  <property fmtid="{D5CDD505-2E9C-101B-9397-08002B2CF9AE}" pid="8" name="MSIP_Label_71bdff26-5887-4e5c-8426-6e404c233df0_ContentBits">
    <vt:lpwstr>0</vt:lpwstr>
  </property>
</Properties>
</file>